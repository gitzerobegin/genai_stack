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6acd63b-70ee-c9cf-6030-9ed8e70ea6e2}">
          <p14:sldIdLst>
            <p14:sldId id="256"/>
            <p14:sldId id="257"/>
            <p14:sldId id="258"/>
          </p14:sldIdLst>
        </p14:section>
        <p14:section name="The view at end of Q3 2026" id="{a1f9c98e-1336-62e4-7963-7dc7d4d24641}">
          <p14:sldIdLst>
            <p14:sldId id="259"/>
            <p14:sldId id="260"/>
            <p14:sldId id="261"/>
          </p14:sldIdLst>
        </p14:section>
        <p14:section name="The architecture" id="{8c3b0f41-0109-23ff-2777-ab21391731bc}">
          <p14:sldIdLst>
            <p14:sldId id="262"/>
            <p14:sldId id="263"/>
            <p14:sldId id="264"/>
            <p14:sldId id="265"/>
          </p14:sldIdLst>
        </p14:section>
        <p14:section name="What to select" id="{e180c7f9-890e-0209-8330-7ce36528fc1e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gulated view" id="{f04a1fd3-449f-095a-3158-98d03d013ddc}">
          <p14:sldIdLst>
            <p14:sldId id="272"/>
            <p14:sldId id="273"/>
            <p14:sldId id="274"/>
            <p14:sldId id="275"/>
          </p14:sldIdLst>
        </p14:section>
        <p14:section name="Delivery" id="{e00210ba-06cb-1d32-98c1-28256ad7db4f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Seven lenses" id="{d053cff1-470f-74fc-d556-37013a10acb1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Close" id="{95b90602-2b24-f954-4b61-e6920d619965}">
          <p14:sldIdLst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B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B33"/>
                </a:solidFill>
                <a:latin typeface="+mn-lt"/>
              </a:rPr>
              <a:t>Products by tier, layer (L1→L9) and control (C1→C8)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Strategic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L1</c:v>
                  </c:pt>
                  <c:pt idx="1">
                    <c:v>L2</c:v>
                  </c:pt>
                  <c:pt idx="2">
                    <c:v>L3</c:v>
                  </c:pt>
                  <c:pt idx="3">
                    <c:v>L4</c:v>
                  </c:pt>
                  <c:pt idx="4">
                    <c:v>L5</c:v>
                  </c:pt>
                  <c:pt idx="5">
                    <c:v>L6</c:v>
                  </c:pt>
                  <c:pt idx="6">
                    <c:v>L7</c:v>
                  </c:pt>
                  <c:pt idx="7">
                    <c:v>L8</c:v>
                  </c:pt>
                  <c:pt idx="8">
                    <c:v>L9</c:v>
                  </c:pt>
                  <c:pt idx="9">
                    <c:v>C1</c:v>
                  </c:pt>
                  <c:pt idx="10">
                    <c:v>C2</c:v>
                  </c:pt>
                  <c:pt idx="11">
                    <c:v>C3</c:v>
                  </c:pt>
                  <c:pt idx="12">
                    <c:v>C4</c:v>
                  </c:pt>
                  <c:pt idx="13">
                    <c:v>C5</c:v>
                  </c:pt>
                  <c:pt idx="14">
                    <c:v>C6</c:v>
                  </c:pt>
                  <c:pt idx="15">
                    <c:v>C7</c:v>
                  </c:pt>
                  <c:pt idx="16">
                    <c:v>C8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</c:v>
                </c:pt>
                <c:pt idx="1">
                  <c:v>4</c:v>
                </c:pt>
                <c:pt idx="2">
                  <c:v>6</c:v>
                </c:pt>
                <c:pt idx="3">
                  <c:v>3</c:v>
                </c:pt>
                <c:pt idx="4">
                  <c:v>2</c:v>
                </c:pt>
                <c:pt idx="5">
                  <c:v>5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  <c:pt idx="9">
                  <c:v>5</c:v>
                </c:pt>
                <c:pt idx="10">
                  <c:v>3</c:v>
                </c:pt>
                <c:pt idx="11">
                  <c:v>3</c:v>
                </c:pt>
                <c:pt idx="12">
                  <c:v>6</c:v>
                </c:pt>
                <c:pt idx="13">
                  <c:v>3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Tactical</c:v>
                </c:pt>
              </c:strCache>
            </c:strRef>
          </c:tx>
          <c:spPr>
            <a:solidFill>
              <a:srgbClr val="6B7A8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L1</c:v>
                  </c:pt>
                  <c:pt idx="1">
                    <c:v>L2</c:v>
                  </c:pt>
                  <c:pt idx="2">
                    <c:v>L3</c:v>
                  </c:pt>
                  <c:pt idx="3">
                    <c:v>L4</c:v>
                  </c:pt>
                  <c:pt idx="4">
                    <c:v>L5</c:v>
                  </c:pt>
                  <c:pt idx="5">
                    <c:v>L6</c:v>
                  </c:pt>
                  <c:pt idx="6">
                    <c:v>L7</c:v>
                  </c:pt>
                  <c:pt idx="7">
                    <c:v>L8</c:v>
                  </c:pt>
                  <c:pt idx="8">
                    <c:v>L9</c:v>
                  </c:pt>
                  <c:pt idx="9">
                    <c:v>C1</c:v>
                  </c:pt>
                  <c:pt idx="10">
                    <c:v>C2</c:v>
                  </c:pt>
                  <c:pt idx="11">
                    <c:v>C3</c:v>
                  </c:pt>
                  <c:pt idx="12">
                    <c:v>C4</c:v>
                  </c:pt>
                  <c:pt idx="13">
                    <c:v>C5</c:v>
                  </c:pt>
                  <c:pt idx="14">
                    <c:v>C6</c:v>
                  </c:pt>
                  <c:pt idx="15">
                    <c:v>C7</c:v>
                  </c:pt>
                  <c:pt idx="16">
                    <c:v>C8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5</c:v>
                </c:pt>
                <c:pt idx="6">
                  <c:v>6</c:v>
                </c:pt>
                <c:pt idx="7">
                  <c:v>5</c:v>
                </c:pt>
                <c:pt idx="8">
                  <c:v>8</c:v>
                </c:pt>
                <c:pt idx="9">
                  <c:v>4</c:v>
                </c:pt>
                <c:pt idx="10">
                  <c:v>2</c:v>
                </c:pt>
                <c:pt idx="11">
                  <c:v>2</c:v>
                </c:pt>
                <c:pt idx="12">
                  <c:v>0</c:v>
                </c:pt>
                <c:pt idx="13">
                  <c:v>2</c:v>
                </c:pt>
                <c:pt idx="14">
                  <c:v>2</c:v>
                </c:pt>
                <c:pt idx="15">
                  <c:v>4</c:v>
                </c:pt>
                <c:pt idx="16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Experimental</c:v>
                </c:pt>
              </c:strCache>
            </c:strRef>
          </c:tx>
          <c:spPr>
            <a:solidFill>
              <a:srgbClr val="D4A1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L1</c:v>
                  </c:pt>
                  <c:pt idx="1">
                    <c:v>L2</c:v>
                  </c:pt>
                  <c:pt idx="2">
                    <c:v>L3</c:v>
                  </c:pt>
                  <c:pt idx="3">
                    <c:v>L4</c:v>
                  </c:pt>
                  <c:pt idx="4">
                    <c:v>L5</c:v>
                  </c:pt>
                  <c:pt idx="5">
                    <c:v>L6</c:v>
                  </c:pt>
                  <c:pt idx="6">
                    <c:v>L7</c:v>
                  </c:pt>
                  <c:pt idx="7">
                    <c:v>L8</c:v>
                  </c:pt>
                  <c:pt idx="8">
                    <c:v>L9</c:v>
                  </c:pt>
                  <c:pt idx="9">
                    <c:v>C1</c:v>
                  </c:pt>
                  <c:pt idx="10">
                    <c:v>C2</c:v>
                  </c:pt>
                  <c:pt idx="11">
                    <c:v>C3</c:v>
                  </c:pt>
                  <c:pt idx="12">
                    <c:v>C4</c:v>
                  </c:pt>
                  <c:pt idx="13">
                    <c:v>C5</c:v>
                  </c:pt>
                  <c:pt idx="14">
                    <c:v>C6</c:v>
                  </c:pt>
                  <c:pt idx="15">
                    <c:v>C7</c:v>
                  </c:pt>
                  <c:pt idx="16">
                    <c:v>C8</c:v>
                  </c:pt>
                </c:lvl>
              </c:multiLvlStrCache>
            </c:multiLvl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B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B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B33"/>
                </a:solidFill>
                <a:latin typeface="+mn-lt"/>
              </a:rPr>
              <a:t>Core candidates of 138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candidates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FS</c:v>
                  </c:pt>
                  <c:pt idx="1">
                    <c:v>TS</c:v>
                  </c:pt>
                  <c:pt idx="2">
                    <c:v>SW</c:v>
                  </c:pt>
                  <c:pt idx="3">
                    <c:v>SU</c:v>
                  </c:pt>
                  <c:pt idx="4">
                    <c:v>AT</c:v>
                  </c:pt>
                  <c:pt idx="5">
                    <c:v>DV</c:v>
                  </c:pt>
                  <c:pt idx="6">
                    <c:v>AG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</c:v>
                </c:pt>
                <c:pt idx="1">
                  <c:v>48</c:v>
                </c:pt>
                <c:pt idx="2">
                  <c:v>48</c:v>
                </c:pt>
                <c:pt idx="3">
                  <c:v>57</c:v>
                </c:pt>
                <c:pt idx="4">
                  <c:v>56</c:v>
                </c:pt>
                <c:pt idx="5">
                  <c:v>63</c:v>
                </c:pt>
                <c:pt idx="6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the leadership team one decision-ready view of the 2026 GenAI stack. The full evidence (about 230,000 words, 1,449 sources) sits in the master document and appendix. Disclosure: researched and drafted with an Anthropic model; Anthropic items were scored on the same rubric, borderline calls resolved against them, and tiers set by the reader are marked.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synthesis Part I.2. Rationale for each point: Part I.1 findings 1, 2 and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review sets a new baseline: the stack as it stands at the end of Q3 2026, on its own terms, and the reference point for the next quarterly edition. Numbers from the dataset build (05_Data/products.json, bibliography.xlsx) and the verification logs (192 checks). Limitation: no vendor audit report was read; many facts come from dated search extracts because the research environment blocked direct fetching of most vendor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I.1, findings 1–10, each tagged to sources in the master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I.1 finding 2; filing figures only for deal values (press values are deliberately not used). Source IDs in the master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I.1 finding 9 and Part V; every date tagged to regulator sources (regulatory_facts.json R-US-MRM, R-EUAIA, R-EU-OMNIBUS-AI, R-PRA-SS221, R-FCA-SYSC8, R-DORA, R-UK-CTP).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IV.1 (revised layer model and diagram).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III, H1–H8, with evidence from the 17 chapters.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I.2, 'Twelve decisions'. MCP originated at Anthropic; OpenAPI tools behind the same gateway are the independent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Data: 05_Data/products.json after CP4. Strategic counts by area from the scorecard; tiers are judgements under rules 9–13, not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XI.7 and Part I.2. Anthropic's tier (Strategic, conditional) was set by the reader at Checkpoint 4 on neutral-rubric scores; an independent alternative is always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 (foundation models) and synthesis Part I.3. Disclosure: the drafting model is Anthropic's; Anthropic was scored on the same rubric and its tier was set by the reader.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this review sets, stated on its own terms (master document Part XII, 'The new baseline at a glance'). Layer and control definitions: Part IV; product status (current, retired, renamed, acquired, unverifiable) in each record of 05_Data/products.json and the product technical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XI.5 (evidence-based avoid list, CP4-7; two routes moved to monitor at CP5) and Stack A 'do not build yet'.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V and V.8 (consolidated evidence register).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VI.1–VI.4. Cloud-neutral; AWS, Azure and Google Cloud equivalents are in the master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§11.3 boundaries; synthesis Part VI.3 and X.3 reason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VII. Every stack table shows AWS, Azure and Google Cloud equivalents side by side (cloud-neutral by the reader's decision).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VIII.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IX.4 (lock-in by layer and control).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X.1–X.2. Phase 2 exit criteria include the exit drill and provider assessments before 18 March 2027; the synthesis notes this timing may be tight.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X.3 (seven reasons, condensed to four).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regulated-FS view (this deck so far, Parts I–XII) is one of seven. Each further view keeps every fact and criterion score and changes only the weights (architectural judgement, published in 05_Data/views.xlsx), then adds view-specific evidence on regulation, commercial terms and agent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and counts from 05_Data/views.json (tools/build_views.py): core candidates FS 45, TS 48, SW 48, SU 57, AT 56, DV 63, AG 56 of 138. Weights are architectural judgement and sum to 100 per view; the fit is computed and indicative, not checkpoint-reviewed. Conflict of interest: under some views Anthropic's Claude family and MCP rise on the same criterion scores; each Part names the independent alternative beside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Part XIII.2 findings 1–5 and 8, XIII.11 checklist. Each decision is tagged to its sources in the Part. Where a Claude model, MCP or Agent Skills appears in the Part, an independent alternative is named beside it (for example GPT-6.1 Sol, Gemini 3.8 Flash or Mistral Medium 3.5 for a Claude route; OpenAPI-described tools for MCP).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Part XIV In brief, XIV.2 findings 1–5 and 8, XIV.11 checklist. Each decision is tagged to its sources in the Part. Where a Claude model, MCP or Agent Skills appears in the Part, an independent alternative is named beside it (for example GPT-6.1 Sol, Gemini 3.8 Flash or Mistral Medium 3.5 for a Claude route; OpenAPI-described tools for MCP).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Part XV.2 findings 1–3, 6 and 9, XV.11 checklist. Each decision is tagged to its sources in the Part. Where a Claude model, MCP or Agent Skills appears in the Part, an independent alternative is named beside it (for example GPT-6.1 Sol, Gemini 3.8 Flash or Mistral Medium 3.5 for a Claude route; OpenAPI-described tools for MCP).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Part XVI In brief, XVI.2 findings 1–4, 6 and 7, XVI.11 checklist. Each decision is tagged to its sources in the Part. Where a Claude model, MCP or Agent Skills appears in the Part, an independent alternative is named beside it (for example GPT-6.1 Sol, Gemini 3.8 Flash or Mistral Medium 3.5 for a Claude route; OpenAPI-described tools for MCP).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Part XVII In brief, XVII.2 findings 1, 2, 4, 5, 6 and 10, XVII.11 checklist. Each decision is tagged to its sources in the Part. Where a Claude model, MCP or Agent Skills appears in the Part, an independent alternative is named beside it (for example GPT-6.1 Sol, Gemini 3.8 Flash or Mistral Medium 3.5 for a Claude route; OpenAPI-described tools for MCP).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Part XVIII In brief, XVIII.2 findings 1–3 and 8, XVIII.11 checklist. Each decision is tagged to its sources in the Part. Where a Claude model, MCP or Agent Skills appears in the Part, an independent alternative is named beside it (for example GPT-6.1 Sol, Gemini 3.8 Flash or Mistral Medium 3.5 for a Claude route; OpenAPI-described tools for MCP).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the checklists (x.11) of Parts XIII–XVIII against Part I.2 of the regulated-FS view. Fund the parts that never change first: they are what every customer, supervisor and acquirer asks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Part X Phase 0 scope and Part XI.7.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Veyan. Truth, compounded. hello@veyan.ai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veyan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00016" cy="6858000"/>
          </a:xfrm>
          <a:prstGeom prst="rect">
            <a:avLst/>
          </a:prstGeom>
        </p:spPr>
      </p:pic>
      <p:pic>
        <p:nvPicPr>
          <p:cNvPr id="3" name="Image 1" descr="brand/veyan_lock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48640"/>
            <a:ext cx="3291840" cy="9523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5780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D4A13A"/>
                </a:solidFill>
              </a:rPr>
              <a:t>THE VIEW AT END OF Q3 2026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5303520" y="2011680"/>
            <a:ext cx="640080" cy="0"/>
          </a:xfrm>
          <a:prstGeom prst="line">
            <a:avLst/>
          </a:prstGeom>
          <a:noFill/>
          <a:ln w="25400">
            <a:solidFill>
              <a:srgbClr val="D4A13A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257800" y="224028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257800" y="41148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5257800" y="6172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DBBDB"/>
                </a:solidFill>
              </a:rPr>
              <a:t>PEOPLE  |  INSIGHTS  |  DECISIONS  |  A BRIGHTER TOMORROW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veyan_hero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0"/>
            <a:ext cx="3776472" cy="6858000"/>
          </a:xfrm>
          <a:prstGeom prst="rect">
            <a:avLst/>
          </a:prstGeom>
        </p:spPr>
      </p:pic>
      <p:pic>
        <p:nvPicPr>
          <p:cNvPr id="3" name="Image 1" descr="brand/veyan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77240" y="3520440"/>
            <a:ext cx="640080" cy="0"/>
          </a:xfrm>
          <a:prstGeom prst="line">
            <a:avLst/>
          </a:prstGeom>
          <a:noFill/>
          <a:ln w="25400">
            <a:solidFill>
              <a:srgbClr val="D4A13A"/>
            </a:solidFill>
            <a:prstDash val="solid"/>
          </a:ln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31520" y="23317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31520" y="37033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pic>
        <p:nvPicPr>
          <p:cNvPr id="3" name="Image 0" descr="brand/veyan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411480"/>
            <a:ext cx="1463040" cy="42325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" y="1143000"/>
            <a:ext cx="548640" cy="0"/>
          </a:xfrm>
          <a:prstGeom prst="line">
            <a:avLst/>
          </a:prstGeom>
          <a:noFill/>
          <a:ln w="25400">
            <a:solidFill>
              <a:srgbClr val="D4A13A"/>
            </a:solidFill>
            <a:prstDash val="solid"/>
          </a:ln>
        </p:spPr>
      </p:sp>
      <p:pic>
        <p:nvPicPr>
          <p:cNvPr id="5" name="Image 1" descr="brand/veyan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40080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Veyan · The Enterprise GenAI Stack · The view at end of Q3 2026 · Not a description of any firm's platform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veyan_brand_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257800" y="22402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GenAI Stack</a:t>
            </a:r>
            <a:endParaRPr lang="en-US" sz="36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257800" y="41148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 new baseline for the enterprise GenAI stack, set by this research: the reference architecture, what to select, what to deliberately not build yet, and how the advice changes for seven kinds of reader.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25780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Reference architecture · 9 layers · 8 enterprise controls · 140 products · 1,449 sources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in one sentence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104241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firm-owned control and evidence plane first. Run regulated work as deterministic workflows with one bounded model step and a human approval gate. Consume models as a two-vendor portfolio. Treat every product beneath the plane as replaceable.</a:t>
            </a:r>
            <a:endParaRPr lang="en-US" sz="2100" dirty="0"/>
          </a:p>
        </p:txBody>
      </p:sp>
      <p:sp>
        <p:nvSpPr>
          <p:cNvPr id="5" name="card"/>
          <p:cNvSpPr/>
          <p:nvPr/>
        </p:nvSpPr>
        <p:spPr>
          <a:xfrm>
            <a:off x="548640" y="338328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49300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Control first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886200"/>
            <a:ext cx="3236976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Gateway, identity, privacy, configuration, evaluation and one evidence store are the firm's own. They make exit a configuration change.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338328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349300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Workflows, not free agents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3886200"/>
            <a:ext cx="3236976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serious framework now separates deterministic workflows from agent loops. Regulated work defaults to the workflow.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338328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349300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Products are components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3886200"/>
            <a:ext cx="3236976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Ownership of 'neutral' tools changed hands repeatedly in 2025–26. Independence and exit must be designed in, not assumed.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baseline, set by this research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layers and controls: nine stack layers (L1–L9) and eight enterprise controls (C1–C8)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64992" y="1554480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products profiled: 92 in the stack layers, 48 in the controls; 138 scored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81344" y="1554480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181344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high-risk claims re-checked by two adversarial verifiers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97696" y="1554480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1,449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997696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sources logged with URL and access date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the work was done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109728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Eight parallel research streams, primary sources first; two adversarial verifiers re-checked the high-risk claims (no fabrications found). The result is the baseline every later edition is measured against.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Seventeen chapters on a 13-part template, each product scored 1–5 on eight criteria with generic and regulated-FS weights.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Reader checkpoints decided the scoring rules and the contested tiers; every claim is labelled verified, reported, judgement or recommendation.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findings that shape the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081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Catalogue → control system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eight enterprise controls are where GenAI risk is managed.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389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4081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Neutral tools were bought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Arize, Langfuse, Promptfoo, Portkey, Lakera, Voyage, Jina and others changed hands.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14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Models are tiered families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Gated top tiers and short lives: model choice is a lifecycle discipline.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24140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Workflows vs agents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serious framework now ships both; this is the key design choice.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4198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Protocols under foundations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MCP and A2A now sit in a Linux Foundation project; agent identity is a product category.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34015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34198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Vector DB is a feature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Hybrid search ships in most stores; retrieval is a governed index.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4074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425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Memory layer is thinning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editions narrowed; hyperscalers ship memory in their runtimes.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44074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4425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Supply chain is attack surface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gateway package was compromised; a tool broker leaked tokens.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41324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4315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530352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Regulatory anchors moved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566928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SR 26-2 excludes GenAI; EU high-risk duties now 2 Dec 2027.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72200" y="54132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72200" y="54315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530352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'Open source' often is not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566928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Source-available, AGPL, non-commercial and threshold licences.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can no longer be assumed from a product's origins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(layer)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(as of 8 October 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Phoenix and AX (evaluation)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Dynatrace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1 October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(evaluation)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Announced 16 January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Promptfoo (red-teaming)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Announced 9 March 2026; closing not published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AI (embeddings)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February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Jina AI (embeddings)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9 October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Tavily (search API)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Nebius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19 February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 (model router)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 19 August 2026; 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Portkey (gateway), Protect AI (security)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Palo Alto Networks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2025–26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Lakera (guardrails)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22 October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AI; Helicone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Harvey; Mintlify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Completed; Helicone in maintenance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7863840" y="1280160"/>
            <a:ext cx="3749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28432" y="1389888"/>
            <a:ext cx="341985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it means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28432" y="1783080"/>
            <a:ext cx="3419856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model vendor now owns a red-team tool; security vendors own gateways. Effective challenge and exit planning have to be designed, not inherited.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7863840" y="3657600"/>
            <a:ext cx="3749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28432" y="3767328"/>
            <a:ext cx="341985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we do about it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28432" y="4160520"/>
            <a:ext cx="3419856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evaluation datasets, routes and policies in Git; keep two red-team tools, one independent of the model vendor; re-run due diligence on every change of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anchors moved in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060704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67128"/>
            <a:ext cx="329184" cy="329184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Apr 2026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SR 26-2 replaces SR 11-7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Generative and agentic AI are out of scope: firms must write their own GenAI standard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216712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Aug 2026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EU AI Act GPAI enforcement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Commission powers over general-purpose model providers start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16712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Mar 2027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PRA PS7/26 · FCA PS26/2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Material third-party notifications and registers begin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216712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0684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Dec 2027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EU AI Act Annex III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High-risk duties deferred by Regulation (EU) 2026/1744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818888"/>
            <a:ext cx="1073505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Concentration sits with the clouds, not the model vendors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5212080"/>
            <a:ext cx="1073505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DORA's first critical-provider list and the UK CTP designations name hyperscalers and no model vendor. PRA SS1/23 and the EU AI Act are now the operative model-risk anchors.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31520" y="2331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31520" y="37033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Eight hypotheses tested; nine stack layers under one firm-owned control plane of eight controls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planes under one firm-owned control plane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68096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7315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 PLANE (firm-owned)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64208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C1 AI traffic gateway · C2 guardrails · C3 privacy service · C4 identity · C5 configuration of record · C6 FinOps · C7 AI security · C8 governance and evidence store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76809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MODEL PLANE (L1, L2)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Two-vendor portfolio + small + open-weight · in-region model access · vLLM exit route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76809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19272"/>
            <a:ext cx="7315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AGENT PLANE (L3, L4)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39312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Workflows by default · bounded agent steps · durable execution · tools behind a governance sub-layer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42816"/>
            <a:ext cx="76809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306824"/>
            <a:ext cx="7315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KNOWLEDGE PLANE (L5, L6, L7, L8)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26864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Memory service (built last) · derived, entitlement-filtered stores · retrieval optimisation · ingestion envelope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30368"/>
            <a:ext cx="768096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294376"/>
            <a:ext cx="7315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EVALUATION AND OBSERVABILITY PLANE (L9)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14416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Firm OpenTelemetry collector · platform of record · CI and online evaluations · two red-team tools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8503920" y="1280160"/>
            <a:ext cx="3108960" cy="48006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68512" y="1389888"/>
            <a:ext cx="27797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to read it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68512" y="1783080"/>
            <a:ext cx="2779776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control plane governs every call and holds the evidence. Planes beneath it are built from replaceable products.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L1–L9 and C1–C8 are the baseline's identifiers in every document, the explorer and the dataset.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verdicts: how evidence shaped the layers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7132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is several jobs; the gateway is a control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covers model access, serving and optimisation; the gateway is C1 (model, tool and agent traffic)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framework is not one layer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holds deterministic workflows (default), bounded agent steps and durable execution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and tool governance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Keep: a tool-governance sub-layer in L4; C4 and C7 make the decisions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vs retrieval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is a governed service on the stores layer; build it last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databases are retrieval stores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L6 is 'Retrieval, knowledge and memory stores'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+ reranking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Together they are L7 'Retrieval optimisation'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needs lineage, DLP, ACLs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Keep, widened: a built ingestion envelope around replaceable parsers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is cross-cutting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L9 is an evidence plane, sharing one evidence store with C8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decisions that define the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98448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gateway of record for all model, MCP and agent traffic; two deployments, in region, failing closed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76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Evaluation and observability from day one; datasets in Git; two red-team tools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809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07792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firm-owned, immutable evidence store keyed by trace 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856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12464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two-vendor model portfolio in region, plus a small model and a self-hosted exit route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90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517136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Deterministic workflows by default, with approval gates only a named human can resume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76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3949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321808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Read-only tools for authoritative data, behind a governed tool gateway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1371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298448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agent a registered identity acting on behalf of a human, deny by default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21579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2176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privacy service at six enforcement points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2962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29809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907792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Retrieval inside platforms already run, as a rebuildable, entitlement-filtered index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2200" y="37673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7856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712464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as the configuration of record for prompts, pins and policies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72200" y="4572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4590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4517136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Capability separation as the first security control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72200" y="5376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53949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5321808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Memory last, as a governed record class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31520" y="2331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select</a:t>
            </a:r>
            <a:endParaRPr lang="en-US" sz="34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31520" y="37033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138 products scored on eight criteria · 58 Strategic · 67 Tactical · 13 Experimental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Strategic choices are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49808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8321040" y="1234440"/>
            <a:ext cx="32918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85632" y="1344168"/>
            <a:ext cx="296265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Strategic tier carries a condition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85632" y="1737360"/>
            <a:ext cx="2962656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18 of the 58 apply only where a given cloud is primary, or where a platform is already operated. The condition is the decision.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8321040" y="3703320"/>
            <a:ext cx="32918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85632" y="3813048"/>
            <a:ext cx="296265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drives the tiers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85632" y="4206240"/>
            <a:ext cx="2962656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Regulated-FS weights favour deployment flexibility and low lock-in, so open, self-hostable components take most Strategic slots. No commercial governance tool reached Strategic on public evidence.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cloud-neutral core we would select today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/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alternative or 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vendors from OpenAI, Anthropic, Mistral, Gemini; Gemma 4 or Mistral self-hosted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Claude: GPT-6.1 Sol, Gemini 3.8 Flash or Mistral Medium 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inference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cloud's in-region model service + vLLM exit route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SGLang as backup engine once its CVE fix is confirmed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orchestration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on Temporal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Agent Framework, ADK, Pydantic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MCP tools behind a governed 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 tools (MCP originated at Anthropic)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L6 / L7 retrieval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(or Elasticsearch where run) + Sentence Transformers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or Milvus after a failed load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L8 ingestion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Docling + Unstructured inside a built envelope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parsers for hard documents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L9 evaluation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or MLflow + firm OpenTelemetry collector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red-team tools, one vendor-independent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Enterprise (hardened, pinned) or Kong AI 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gateway where that cloud is primary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privacy / C4 identity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Presidio behind a privacy API · workforce IdP + OPA + SPIFFE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DLP / Entra Agent ID per cloud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 configuration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as configuration of record; prompts as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registries are caches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models as a portfolio, not a bet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Primary mid-tier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2860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vendor through the primary cloud's in-region model service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64992" y="132588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Second mid-tier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1965960"/>
            <a:ext cx="22860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 unrelated vendor qualified on the same evaluation suite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344" y="132588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Small model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1965960"/>
            <a:ext cx="22860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Classification, routing and judging at low cost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7696" y="132588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Open-weight exit route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1965960"/>
            <a:ext cx="22860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Gemma 4 or Mistral on vLLM: the stressed-exit drill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110642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tiers are gated and lifetimes are short: one Gemini Flash version lives about five months. Re-qualification is routine work, not an event.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Chinese-origin families: decide the route, not the brand. Self-hosted weights by explicit policy or in-tenant hosting; never the vendor's own API for client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Numbers are never generated by the model; they come from the attribution engine through read-only tools.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baseline: 17 layers and controls, 140 products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Nine stack layers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33832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L1 models as a pinned portfolio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L2 access, serving, optimisation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L3 workflows and bounded agents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L4 tools behind a governed gateway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L5 memory as a governed record class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L6 retrieval stores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L7 retrieval optimisation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L8 ingestion envelope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L9 evaluation and observability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56616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Eight enterprise controls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965960"/>
            <a:ext cx="33832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C1 AI traffic gateway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C2 guardrails as policy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C3 privacy service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C4 agent identity and authorisation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C5 configuration of record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C6 AI FinOps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C7 AI security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C8 model risk, governance and evidence store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566160" cy="54864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Facts as at Q3 2026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1965960"/>
            <a:ext cx="33832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lines: Gemma 4, Z.ai GLM-5.x, Mistral Medium 3.5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archived or closing: TGI, OpenAI Agent Builder; Helicone in maintenance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verifiable: EthicalAgents, Ragoos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router is not the access layer; desktop runtimes stay out of production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not selected, on evidence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Archived or deprecated: TGI, OpenAI Agent Builder, AutoGen for new code, Helicone, Zep Community Edition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Archived, shut down, superseded or in maintenance mode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EthicalAgents, Ragoos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not be verified as real 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third-party broker holding client tokens (Composio managed cloud)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Unresolved token-exposure incident, May 2026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Jina weights, MinerU above thresholds, a modified AGPL Firecrawl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blockers without a commercial licence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 Studio as a service; training-on-data model tiers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blockers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Moved to monitor by the reader (CP5): Chinese-origin vendors' own APIs for client data (the route rule still applies) and billing intermediation. Not avoided but not yet: memory, autonomous agents with write tools, multi-agent delegation, fine-tuning, own-GPU fleets, dedicated vector databases without a failed load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31520" y="2331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regulated firm's view</a:t>
            </a:r>
            <a:endParaRPr lang="en-US" sz="34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31520" y="37033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What supervisors will ask for, and the worked example that makes it concrete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supervisor or validator will ask to see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8988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 risk (SS1/23)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83080"/>
            <a:ext cx="5111496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GenAI model-risk standard, inventory entry, independent validation report, monitoring results, change records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172200" y="128016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36792" y="138988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EU AI Act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1783080"/>
            <a:ext cx="5111496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Use-case classification, AI literacy records, Article 26 logs (six months or more) and oversight assignments for any high-risk use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48640" y="29260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35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Third parties (PS7/26, DORA)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429000"/>
            <a:ext cx="5111496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Provider assessments, notifications from 18 March 2027, register entries, tested exit plans including a stressed exit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172200" y="29260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3035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3429000"/>
            <a:ext cx="5111496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Processing-region evidence per call, transfer risk assessments, erasure runbooks covering vectors, caches and backups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45720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68172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 trail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074920"/>
            <a:ext cx="5111496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Per-output evidence pack: prompt and model versions, data snapshot, tool calls, evaluation results, approver identity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172200" y="45720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6792" y="468172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Security (OWASP 2026)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5074920"/>
            <a:ext cx="5111496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Red-team results mapped to the LLM and Agentic Top 10 lists; supply-chain gate records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the attribution-commentary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 Analyst request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Identity and policy check (C4)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64992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2152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 Workflow graph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Deterministic; one drafting step (L3)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1344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18504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 Read-only data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18504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Attribution engine via governed tools (L4)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97696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34856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 House style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34856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Retrieval of prior commentary (L6–L8)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 Draft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 via the gateway, in region (C1, L2, L1)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64992" y="31546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02152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  Evaluate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502152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Every figure matches the engine (L9, C2)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1546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18504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  Approve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18504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Named portfolio manager (C4)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97696" y="31546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  Evidence pack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Stored, immutable, reproducible (C8)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 multi-asset fund, Brinson-style attribution (allocation, selection, currency). Generic and illustrative: not any firm's platform.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must never do matters more than what it can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463040" y="14630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14813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✕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Generate or alter a number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figure comes from the approved attribution output and is traceable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79392" y="14630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79392" y="14813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✕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Present inference as data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Commentary distinguishes the engine's figures from the narrative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95744" y="14630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95744" y="14813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✕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81344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Publish without approval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 named, entitled person can resume the approval gate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12096" y="14630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12096" y="14813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✕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997696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Leave no record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089136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Outputs are reproducible; evaluation evidence is retained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5001768"/>
            <a:ext cx="1073505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control that catches the one failure that matters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394960"/>
            <a:ext cx="1073505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wrong number in a client commentary is caught by a deterministic numeric-faithfulness check: an evaluation scorer reused inline as a guardrail.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31520" y="2331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34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31520" y="37033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Four reference stacks · build vs buy · lock-in · an 18-month roadmap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reference stacks: Stack A leads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 · Regulated enterprise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LEAD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68880"/>
            <a:ext cx="23317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Private deployment, governance and evidence before speed; tested exit for every material dependency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4992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9584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 · Cloud-native managed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29584" y="2468880"/>
            <a:ext cx="23317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primary cloud's lead service in each category; firm-owned evidence and configuration keep exit possible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1344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 · Open-source first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468880"/>
            <a:ext cx="23317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Open licence and self-hosted route for every component; the cloud as infrastructure, not platform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97696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62288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 · Minimal start-small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162288" y="2468880"/>
            <a:ext cx="23317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Stack A cut to one use case, with an explicit 'do not build yet' list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727448"/>
            <a:ext cx="1073505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Same control-plane minimum in every stack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120640"/>
            <a:ext cx="10735056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Gateway, evaluation harness, evidence store, privacy API, agent identity, Git configuration, budgets that fail closed. Stacks differ in who runs the components, not in whether they exist.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control statement; buy the commodity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7432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firm owns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(L1)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Buy; adopt open weights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policy, qualification suite, retirement calendar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(L6)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what is 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interface and rebuild pipeline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(L8)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envelope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product emits lineage; parsers adopted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(L9)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 and scorers in Git; platform replaceable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(C1), guardrails (C2), privacy (C3)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Routes, policies, test sets, keys; the product is replaceable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(C4)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the IdP, build the 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registration, policies in Git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(C5), FinOps (C6)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(thin)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manifest, evaluation gate, allocation rules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(C8)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store, buy the workflow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store and inventory outlive any 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build yet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turn a deployer into a provider under the AI 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lock-in is acceptable, and which is not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Unacceptable without an exit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(L1)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weights the firm holds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proprietary vendor for an important service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(L3)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frameworks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Vendor-hosted agent state for regulated workflows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(L4)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and A2A as open specifications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custody in a third party's multi-tenant cloud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(L6)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vector index rebuildable from source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Entitlement logic only in proprietary syntax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(L9)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APM module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 only in a vendor UI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(C5)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Pins in a manifest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text or change history only in a vendor registry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(C8)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packs, OpenLineage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evidence store held only by a vendor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pattern: own the data, the policy and the evidence; let the engines be bought and replaced.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18-month roadmap, governance first and memory last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0" y="1508760"/>
            <a:ext cx="0" cy="3895344"/>
          </a:xfrm>
          <a:prstGeom prst="line">
            <a:avLst/>
          </a:prstGeom>
          <a:noFill/>
          <a:ln w="9525">
            <a:solidFill>
              <a:srgbClr val="D5DC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93192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06240" y="1508760"/>
            <a:ext cx="0" cy="3895344"/>
          </a:xfrm>
          <a:prstGeom prst="line">
            <a:avLst/>
          </a:prstGeom>
          <a:noFill/>
          <a:ln w="9525">
            <a:solidFill>
              <a:srgbClr val="D5DC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0" cy="3895344"/>
          </a:xfrm>
          <a:prstGeom prst="line">
            <a:avLst/>
          </a:prstGeom>
          <a:noFill/>
          <a:ln w="9525">
            <a:solidFill>
              <a:srgbClr val="D5DC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0" y="1508760"/>
            <a:ext cx="0" cy="3895344"/>
          </a:xfrm>
          <a:prstGeom prst="line">
            <a:avLst/>
          </a:prstGeom>
          <a:noFill/>
          <a:ln w="9525">
            <a:solidFill>
              <a:srgbClr val="D5DC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M12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95360" y="1508760"/>
            <a:ext cx="0" cy="3895344"/>
          </a:xfrm>
          <a:prstGeom prst="line">
            <a:avLst/>
          </a:prstGeom>
          <a:noFill/>
          <a:ln w="9525">
            <a:solidFill>
              <a:srgbClr val="D5DC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8408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0" y="1508760"/>
            <a:ext cx="0" cy="3895344"/>
          </a:xfrm>
          <a:prstGeom prst="line">
            <a:avLst/>
          </a:prstGeom>
          <a:noFill/>
          <a:ln w="9525">
            <a:solidFill>
              <a:srgbClr val="D5DC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24712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M18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521440" y="1508760"/>
            <a:ext cx="0" cy="3895344"/>
          </a:xfrm>
          <a:prstGeom prst="line">
            <a:avLst/>
          </a:prstGeom>
          <a:noFill/>
          <a:ln w="9525">
            <a:solidFill>
              <a:srgbClr val="D5DC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1600200"/>
            <a:ext cx="21031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 Governance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1664208"/>
            <a:ext cx="97536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075688"/>
            <a:ext cx="21031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 Evaluation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30880" y="2139696"/>
            <a:ext cx="97536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551176"/>
            <a:ext cx="21031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Gateway and models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18560" y="2615184"/>
            <a:ext cx="1463040" cy="329184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026664"/>
            <a:ext cx="21031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Retrieval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93920" y="3090672"/>
            <a:ext cx="1463040" cy="329184"/>
          </a:xfrm>
          <a:prstGeom prst="roundRect">
            <a:avLst>
              <a:gd name="adj" fmla="val 13889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502152"/>
            <a:ext cx="21031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 Workflows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3566160"/>
            <a:ext cx="1463040" cy="329184"/>
          </a:xfrm>
          <a:prstGeom prst="roundRect">
            <a:avLst>
              <a:gd name="adj" fmla="val 13889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977640"/>
            <a:ext cx="21031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Tools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0" y="4041648"/>
            <a:ext cx="1463040" cy="329184"/>
          </a:xfrm>
          <a:prstGeom prst="roundRect">
            <a:avLst>
              <a:gd name="adj" fmla="val 13889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453128"/>
            <a:ext cx="21031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6 Memory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95360" y="4517136"/>
            <a:ext cx="1463040" cy="329184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928616"/>
            <a:ext cx="21031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7 Optimisation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0" y="4992624"/>
            <a:ext cx="1463040" cy="329184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25440" y="1508760"/>
            <a:ext cx="0" cy="3895344"/>
          </a:xfrm>
          <a:prstGeom prst="line">
            <a:avLst/>
          </a:prstGeom>
          <a:noFill/>
          <a:ln w="19050">
            <a:solidFill>
              <a:srgbClr val="B3474B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414528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18 Mar 2027 · PS7/26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570720" y="1508760"/>
            <a:ext cx="0" cy="3895344"/>
          </a:xfrm>
          <a:prstGeom prst="line">
            <a:avLst/>
          </a:prstGeom>
          <a:noFill/>
          <a:ln w="19050">
            <a:solidFill>
              <a:srgbClr val="B3474B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829056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2 Dec 2027 · AI Act Annex III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October 2026 to March 2028. Phases overlap; each starts when its predecessor's exit criteria are in sight. The exit drill (model switched by configuration only) must pass before March 2027.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evaluation comes before the first model call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184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It is the validation evidence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9456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Without a suite there is nothing for a validator to re-perform and nothing to approve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0760" y="137160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6184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It is what makes exit possible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19456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replacement model is qualified only by running the same suite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9959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Every later change is a model change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57200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Model, prompt, embedding and tool changes all need a regression baseline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374904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9959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Evidence cannot be recreated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57200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Free tiers keep traces for weeks; an unrecorded output has no reproducible record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31520" y="2331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stack, seven lenses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31520" y="37033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The same 138 scored products and criterion scores, re-weighted for six further readers (Parts XIII–XVIII)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readers, one stack, different weights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8181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246120"/>
                <a:gridCol w="27889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most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asset manager deploying GenAI for itself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and compliance 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 I–XII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GenAI inside services it operates for 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15% and cost 15%; lock-in 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XIII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Ships GenAI inside software customers install and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flexibility 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XIV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Early-stage company building an AI-native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25%, cost 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XV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Start-up selling AI tools into the enterprise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20%; ecosystem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XVI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Start-up selling agentic SDLC tools to developers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25%; ecosystem and cost 15%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XVII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Start-up selling agents to enterprises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20%; enterprise, security, deployment, ecosystem 15%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XVIII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8549640" y="1188720"/>
          <a:ext cx="31089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13232" y="5458968"/>
            <a:ext cx="1073505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Same facts and criterion scores; only the weights change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13232" y="5760720"/>
            <a:ext cx="10789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core candidate scores at least 3.6 under the view's weights, has no criterion at 1 and is not Experimental. The master tiers and their conditions still stand.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provider: tenant-aware, metered and sold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82296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44168"/>
            <a:ext cx="987552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same control plane as the regulated firm, but every element is tenant-aware, metered and sold. Tenant isolation, cost per call and service levels replace model-risk validation as the hardest problems.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Write a tenancy standard first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Tenant, user and agent in every token; filters injected server-side; every cache, index and store addressed by tenant; a cross-tenant leak test blocks every release.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 the margin in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model call is cost of goods sold: batch, prompt caching and a small model in every feature; cost per call reported per tenant and feature against price.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Make the second vendor a live capacity route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Sized and drilled for real load, because discount tiers throttle and one tenant's misuse can suspend the whole service.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7220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Sell a service, not a pass-through model API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Flow vendor terms down to tenants, list every model route as a subprocessor, and ship an AI assurance pack and NIS2 and CRA incident runbooks.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88152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Read more: Part XIII of the master document · core candidates under this view: 48 of 138 (FS 45)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company: own the release plane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82296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44168"/>
            <a:ext cx="987552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vendor ships into many control planes it does not own. It is a manufacturer and provider: its product plugs into each customer's gateway, identity, telemetry and evidence tools.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Publish a support matrix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least two unrelated hosted vendors, reached through the customer's own account or gateway, plus one Apache 2.0 or MIT model bundled for air-gapped sites.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Route through the customer's gateway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configurable model endpoint; no provider SDKs in feature code; no vendor-run endpoint on the request path of a self-managed product.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Gate every shipped component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Redistribution, not use, decides what ships: a licence register and an AI-aware SBOM per release; signed, safetensors-only bundled weights.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7220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Treat the CRA and PLD as deadlines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Vulnerability reporting since 11 September 2026; software a PLD product from 9 December 2026; CRA main obligations from 11 December 2027.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88152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Read more: Part XIV of the master document · core candidates under this view: 48 of 138 (FS 45)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Start-up: speed first, exits kept open cheaply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82296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44168"/>
            <a:ext cx="987552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fortnight, not a quarter, on the control plane. What is built in the first two weeks decides how cheaply the company can change its mind later.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 four things in the first fortnight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pinned gateway with a key and budget per customer; a tenant ID on every row, vector and trace; standard tracing; an evaluation set in Git with the prompts.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Let credits pick the first vendor, not the last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Credits mostly pay only for the credit-giver's models: qualify a second vendor on the same evaluation set, switchable by configuration.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Isolation before model risk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Keeping one customer's data out of another's answers is the first control problem; the users are customers' staff, so use customer identity, not a workforce directory.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7220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 things do not bend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 the gateway: a widely used open-source gateway shipped poisoned releases in March 2026. Keep evaluation sets and prompts as the company's own IP.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88152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Read more: Part XV of the master document · core candidates under this view: 57 of 138 (FS 45)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AI-tools start-up: easy to adopt, easy to leave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82296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44168"/>
            <a:ext cx="987552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buyer's architecture already assigns the product's place: a replaceable call-out inside the buyer's control plane, running where the data is and writing evidence into the buyer's stores.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Publish the integration contract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Gateway hooks with a latency budget and typed outcomes; spans to the customer's OpenTelemetry collector; verdicts to its evidence store; usage in an open cost format.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Run where the buyer's data is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build as EU SaaS, private-endpoint SaaS and a container in the customer's account; no hidden model dependency; policy as code, not console settings.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Beat the free baseline on 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tools and incumbents' bundles already ship the feature: win on recall, operations or evidence, never on having the feature.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7220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Pass diligence and plan for a change of owner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Many 'neutral' tools were acquired: subprocessor list, DORA addendum, exit plan and change-of-control notice; the start-up's own CRA duties apply too.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88152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Read more: Part XVI of the master document · core candidates under this view: 56 of 138 (FS 45)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SDLC: trust is earned in the pull request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82296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44168"/>
            <a:ext cx="987552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crown jewels are source code and the credentials that change it. Two questions decide the deal: where does our code go, and can we see everything the agent did?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customer's model endpoint by default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call through the customer's gateway; two unrelated model vendors qualified per task; retention reported route by route, because it depends on the model.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pull request is the boundary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 branch, isolated sandbox with default-deny egress, short-lived repository-scoped tokens; the agent never merges, a named human does.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Fill the audit gap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evidence record of every model call, tool call and command, written to the customer's store, with pinned OpenTelemetry spans.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7220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Sell depth, neutrality and evidence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Incumbents ship breadth and the enterprise baseline. Win on one task done well; cache stable prefixes, the main cost lever.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88152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Read more: Part XVII of the master document · core candidates under this view: 63 of 138 (FS 45)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start-up: an ungoverned agent is not bought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82296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44168"/>
            <a:ext cx="987552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buyer governs every agent through its own control and evidence plane. The start-up sells domain logic, a tested workflow and an evaluation suite, not a second identity plane, gateway or evidence store.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Run under the customer's identity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Registered in the customer's directory with a sponsor; on-behalf-of tokens per tool audience; no standing secrets; revocation within 15 minutes.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23774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248716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Ship the strict profile of incomplete standards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88036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Tool authorisation on, signed agent cards, short-lived audience-bound tokens, no sub-delegation; tools read-only by default, through the customer's gateway.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Keep nothing the customer must audit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calls only to a customer-supplied endpoint; one evidence record per output in the customer's store; workflow, prompts and autonomy budget as files.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72200" y="40690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41788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Treat governance fit as the product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4572000"/>
            <a:ext cx="511149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Incumbents are building agent platforms. The test: an evidence pack for every output, revoke by one identity, switch model by one route.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88152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Read more: Part XVIII of the master document · core candidates under this view: 56 of 138 (FS 45)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holds across all seven lenses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8988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named person approves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83080"/>
            <a:ext cx="323697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Anything consequential: a support reply, a merged pull request, a payment run. The model drafts; a person decides.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297680" y="128016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62272" y="138988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Memory comes last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783080"/>
            <a:ext cx="323697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Long-term memory of customer or client content waits; when built, it is a governed record class with erasure by person.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8046720" y="128016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11312" y="138988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Configuration in source control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11312" y="1783080"/>
            <a:ext cx="323697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Prompts, model pins and policies released through review, in Git, as one manifest.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10896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21868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 evidence record for every output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611880"/>
            <a:ext cx="323697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Keyed by a trace ID, in a store the firm or its customer owns, never only in a vendor's.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297680" y="310896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62272" y="321868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pinned, signed supply chain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3611880"/>
            <a:ext cx="323697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five-person team is as exposed to a poisoned package as a bank.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046720" y="310896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11312" y="3218688"/>
            <a:ext cx="32369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Every model call through a gateway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3611880"/>
            <a:ext cx="323697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firm's own or the customer's: one route to switch a model, enforce a budget and record the call.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102352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What changes is who owns the control plane, who pays for inference and which rulebook applies: deployer, operator, manufacturer, provider or supplier. Every lens keeps a second, unrelated model vendor qualified on the same evaluation set; only the reason for it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for the leadership team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8988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Adopt the reference architecture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83080"/>
            <a:ext cx="5111496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Control plane first; Stack A as the target; the lock-in rules as design policy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172200" y="12801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36792" y="138988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Name the accountable owner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1783080"/>
            <a:ext cx="5111496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SMF for GenAI model risk and a GenAI standard to SS1/23 quality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7216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Fund Phases 0–2 now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114800"/>
            <a:ext cx="5111496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Governance, evaluation harness, gateway and two-vendor model access, with the exit drill before 18 March 2027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7220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3721608"/>
            <a:ext cx="51114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Choose the first use case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4114800"/>
            <a:ext cx="5111496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attribution commentary: clear boundaries, checkable numbers, a named approver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257800" y="22402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control plane. Rent the components.</a:t>
            </a:r>
            <a:endParaRPr lang="en-US" sz="36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257800" y="41148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Full evidence: master document (seven views, Parts I–XVIII), product technical appendix (138 scored products, fit by view), offline explorer with a view selector, dataset and source archive. Every claim is labelled and sourced. Researched and drafted with an Anthropic model; Anthropic items scored on the same rubric, with tiers set by the reader marked.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Veyan">
  <a:themeElements>
    <a:clrScheme name="Veyan">
      <a:dk1>
        <a:srgbClr val="0B1B33"/>
      </a:dk1>
      <a:lt1>
        <a:srgbClr val="FFFFFF"/>
      </a:lt1>
      <a:dk2>
        <a:srgbClr val="0B1B33"/>
      </a:dk2>
      <a:lt2>
        <a:srgbClr val="F5F1E8"/>
      </a:lt2>
      <a:accent1>
        <a:srgbClr val="2E6DA4"/>
      </a:accent1>
      <a:accent2>
        <a:srgbClr val="0B1B33"/>
      </a:accent2>
      <a:accent3>
        <a:srgbClr val="D4A13A"/>
      </a:accent3>
      <a:accent4>
        <a:srgbClr val="6B7A8F"/>
      </a:accent4>
      <a:accent5>
        <a:srgbClr val="9DBBDB"/>
      </a:accent5>
      <a:accent6>
        <a:srgbClr val="B3474B"/>
      </a:accent6>
      <a:hlink>
        <a:srgbClr val="2E6DA4"/>
      </a:hlink>
      <a:folHlink>
        <a:srgbClr val="6B7A8F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Veyan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Enterprise GenAI Stack: the view at end of Q3 2026</dc:title>
  <dc:subject>PptxGenJS Presentation</dc:subject>
  <dc:creator>Veyan</dc:creator>
  <cp:lastModifiedBy>Veyan</cp:lastModifiedBy>
  <cp:revision>1</cp:revision>
  <dcterms:created xsi:type="dcterms:W3CDTF">2026-10-10T20:38:52Z</dcterms:created>
  <dcterms:modified xsi:type="dcterms:W3CDTF">2026-10-10T20:38:52Z</dcterms:modified>
</cp:coreProperties>
</file>