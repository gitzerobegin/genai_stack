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b79db13-a7d6-3f3a-15b3-205e626ac969}">
          <p14:sldIdLst>
            <p14:sldId id="256"/>
            <p14:sldId id="257"/>
            <p14:sldId id="258"/>
          </p14:sldIdLst>
        </p14:section>
        <p14:section name="The view at end of Q3 2026" id="{82e34b5e-9b7f-2ac4-9dbc-b097380173d2}">
          <p14:sldIdLst>
            <p14:sldId id="259"/>
            <p14:sldId id="260"/>
            <p14:sldId id="261"/>
          </p14:sldIdLst>
        </p14:section>
        <p14:section name="The architecture" id="{9d8f5921-dc94-9bd0-3431-df33b19ae8aa}">
          <p14:sldIdLst>
            <p14:sldId id="262"/>
            <p14:sldId id="263"/>
            <p14:sldId id="264"/>
            <p14:sldId id="265"/>
          </p14:sldIdLst>
        </p14:section>
        <p14:section name="What to select" id="{81031efc-1d2a-76e0-db8b-6164f4ba560c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96407f2a-33da-70c9-16d6-4c0d78996da7}">
          <p14:sldIdLst>
            <p14:sldId id="272"/>
            <p14:sldId id="273"/>
            <p14:sldId id="274"/>
            <p14:sldId id="275"/>
          </p14:sldIdLst>
        </p14:section>
        <p14:section name="Delivery" id="{6ad8da4c-adf0-b791-fc10-77c959c002de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even lenses" id="{d09e6d31-22fd-62bf-0aed-b24c6c51c3af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lose" id="{f6a7e7bf-784e-558f-b79f-c789cee88646}">
          <p14:sldIdLst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Products by tier, layer (L1→L9)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</c:v>
                </c:pt>
                <c:pt idx="1">
                  <c:v>4</c:v>
                </c:pt>
                <c:pt idx="2">
                  <c:v>6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6</c:v>
                </c:pt>
                <c:pt idx="7">
                  <c:v>5</c:v>
                </c:pt>
                <c:pt idx="8">
                  <c:v>8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D4A1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Core candidates of 138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candidates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FS</c:v>
                  </c:pt>
                  <c:pt idx="1">
                    <c:v>TS</c:v>
                  </c:pt>
                  <c:pt idx="2">
                    <c:v>SW</c:v>
                  </c:pt>
                  <c:pt idx="3">
                    <c:v>SU</c:v>
                  </c:pt>
                  <c:pt idx="4">
                    <c:v>AT</c:v>
                  </c:pt>
                  <c:pt idx="5">
                    <c:v>DV</c:v>
                  </c:pt>
                  <c:pt idx="6">
                    <c:v>AG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48</c:v>
                </c:pt>
                <c:pt idx="2">
                  <c:v>48</c:v>
                </c:pt>
                <c:pt idx="3">
                  <c:v>57</c:v>
                </c:pt>
                <c:pt idx="4">
                  <c:v>56</c:v>
                </c:pt>
                <c:pt idx="5">
                  <c:v>63</c:v>
                </c:pt>
                <c:pt idx="6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(about 230,000 words, 1,255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review sets a new baseline: the stack as it stands at the end of Q3 2026, on its own terms, and the reference point for the next quarterly edition. Numbers from the dataset build (05_Data/products.json, bibliography.xlsx) and the verification logs (192 checks).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I.3.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baseline this review sets, stated on its own terms. Layer and control definitions: synthesis Part IV; product status (current, retired, renamed, acquired, unverifiable) in each record of 05_Data/products.json and the product technical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regulated-FS view (this deck so far, Parts I–XII) is one of seven. Each further view keeps every fact and criterion score and changes only the weights (architectural judgement, published in 05_Data/views.xlsx), then adds view-specific evidence on regulation, commercial terms and agent standards.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and counts from 05_Data/views.json (tools/build_views.py): core candidates FS 45, TS 48, SW 48, SU 57, AT 56, DV 63, AG 56 of 138. Weights are architectural judgement and sum to 100 per view; the fit is computed and indicative, not checkpoint-reviewed. Conflict of interest: under some views Anthropic's Claude family and MCP rise on the same criterion scores; each Part names the independent alternative beside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XIII.2 findings 1–5 and 8, XIII.11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XIV In brief, XIV.2 findings 1–5 and 8, XIV.11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XV.2 findings 1–3, 6 and 9, XV.11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 In brief, XVI.2 findings 1–4, 6 and 7, XVI.11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 In brief, XVII.2 findings 1, 2, 4, 5, 6 and 10, XVII.11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Part XVIII In brief, XVIII.2 findings 1–3 and 8, XVIII.11 checklist. Each decision is tagged to its sources in the Part. Where a Claude model, MCP or Agent Skills appears in the Part, an independent alternative is named beside it (for example GPT-6.1 Sol, Gemini 3.8 Flash or Mistral Medium 3.5 for a Claude route; OpenAPI-described tools for MCP).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checklists (x.11) of Parts XIII–XVIII against Part I.2 of the regulated-FS view. Fund the parts that never change first: they are what every customer, supervisor and acquirer asks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Veyan. Truth, compounded. hello@veyan.ai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00016" cy="6858000"/>
          </a:xfrm>
          <a:prstGeom prst="rect">
            <a:avLst/>
          </a:prstGeom>
        </p:spPr>
      </p:pic>
      <p:pic>
        <p:nvPicPr>
          <p:cNvPr id="3" name="Image 1" descr="brand/veyan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548640"/>
            <a:ext cx="3291840" cy="9523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5780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13A"/>
                </a:solidFill>
              </a:rPr>
              <a:t>THE VIEW AT END OF Q3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303520" y="201168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52578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BDB"/>
                </a:solidFill>
              </a:rPr>
              <a:t>PEOPLE  |  INSIGHTS  |  DECISIONS  |  A BRIGHTER TOMORROW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0"/>
            <a:ext cx="3776472" cy="6858000"/>
          </a:xfrm>
          <a:prstGeom prst="rect">
            <a:avLst/>
          </a:prstGeom>
        </p:spPr>
      </p:pic>
      <p:pic>
        <p:nvPicPr>
          <p:cNvPr id="3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914400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352044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3" name="Image 0" descr="brand/veyan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11480"/>
            <a:ext cx="1463040" cy="42325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66928" y="1143000"/>
            <a:ext cx="54864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pic>
        <p:nvPicPr>
          <p:cNvPr id="5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41248" y="6400800"/>
            <a:ext cx="9326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Veyan · The Enterprise GenAI Stack · The view at end of Q3 2026 ·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brand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GenAI Stack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 new baseline for the enterprise GenAI stack, set by this research: the reference architecture, what to select, what to deliberately not build yet, and how the advice changes for seven kinds of reader.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Reference architecture · 9 layers · 8 enterprise controls · 140 products · 1,255 sources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baseline, set by this research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layers and controls: nine stack layers (L1–L9) and eight enterprise controls (C1–C8)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profiled: 92 in the stack layers, 48 in the controls; 138 scored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high-risk claims re-checked by two adversarial verifiers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1,255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the high-risk claims (no fabrications found). The result is the baseline every later edition is measured against.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findings that shape the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eight enterprise controls are where GenAI risk is managed.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can no longer be assumed from a product's origins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regulatory anchors moved in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hypotheses tested; nine stack layers under one firm-owned control plane of eight controls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planes under one firm-owned control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(L1, L2)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Two-vendor portfolio + small + open-weight · in-region model access · vLLM exit 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(L5, L6, L7, L8)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Memory service (built last) · derived, entitlement-filtered stores · retrieval optimisation · ingestion envelope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L1–L9 and C1–C8 are the baseline's identifiers in every document, the explorer and the dataset.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verdicts: how evidence shaped the layers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is several jobs; the gateway is a control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covers model access, serving and optimisation; the gateway is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holds deterministic workflows (default), bounded agent steps and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is a governed service on the stores layer;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databases are retrieval stores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is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Together they are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is an evidence plane, sharing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decisions that define the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select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Strategic choices are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cloud-neutral core we would select today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/ L7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 (or Elasticsearch where run) + Sentence Transformers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models as a portfolio, not a bet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baseline: 17 layers and controls, 140 products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Nine stack layers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L1 models as a pinned portfolio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L2 access, serving,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L3 workflows and bounded agents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L4 tools behind a governed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L5 memory as a governed record class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L6 retrieval stores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L7 retrieval optimisation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L8 ingestion envelope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L9 evaluation and observability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Eight enterprise controls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C1 AI traffic gateway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C2 guardrails as policy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C3 privacy service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C4 agent identity and authorisation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C5 configuration of record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C6 AI FinOps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C7 AI security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C8 model risk, governance and evidence store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Facts as at Q3 2026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Current lines: Gemma 4, Z.ai GLM-5.x, Mistral Medium 3.5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archived or closing: TGI, OpenAI Agent Builder; Helicone in maintenance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verifiable: EthicalAgents, Ragoos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router is not the access layer; desktop runtimes stay out of production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not selected, on evidence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firm's view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supervisor or validator will ask to see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attribution-commentary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(L6–L8)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must never do matters more than what it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reference stacks: Stack A leads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control statement; buy the commodity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lock-in is acceptable, and which is not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roadmap, governance first and memory last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evaluation comes before the first model call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stack, seven lenses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The same 138 scored products and criterion scores, re-weighted for six further readers (Parts XIII–XVIII)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readers, one stack, different weights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1812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3246120"/>
                <a:gridCol w="27889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most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Regulated asset manager deploying GenAI for itself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and compliance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Parts I–XII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GenAI inside services it operates for customers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15% and cost 15%; lock-in 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Ships GenAI inside software customers install and run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flexibility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XIV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Early-stage company building an AI-native product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25%, cost 20%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AI tools into the enterprise stack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ecosystem 15%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agentic SDLC tools to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25%; ecosystem and cost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Start-up selling agents to enterprises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20%; enterprise, security, deployment, ecosystem 15% each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XVIII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8549640" y="1188720"/>
          <a:ext cx="31089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3232" y="54589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facts and criterion scores; only the weights change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13232" y="5760720"/>
            <a:ext cx="107899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core candidate scores at least 3.6 under the view's weights, has no criterion at 1 and is not Experimental. The master tiers and their conditions still stand.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provider: tenant-aware, metered and sold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same control plane as the regulated firm, but every element is tenant-aware, metered and sold. Tenant isolation, cost per call and service levels replace model-risk validation as the hardest problems.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Write a tenancy standard first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Tenant, user and agent in every token; filters injected server-side; every cache, index and store addressed by tenant; a cross-tenant leak test blocks every release.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Design the margin in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model call is cost of goods sold: batch, prompt caching and a small model in every feature; cost per call reported per tenant and feature against price.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Make the second vendor a live capacity route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Sized and drilled for real load, because discount tiers throttle and one tenant's misuse can suspend the whole service.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a service, not a pass-through model API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 vendor terms down to tenants, list every model route as a subprocessor, and ship an AI assurance pack and NIS2 and CRA incident runbooks.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XIII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company: own the release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vendor ships into many control planes it does not own. It is a manufacturer and provider: its product plugs into each customer's gateway, identity, telemetry and evidence tools.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a support matrix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At least two unrelated hosted vendors, reached through the customer's own account or gateway, plus one Apache 2.0 or MIT model bundled for air-gapped sites.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Route through the customer's gateway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configurable model endpoint; no provider SDKs in feature code; no vendor-run endpoint on the request path of a self-managed product.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Gate every shipped component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Redistribution, not use, decides what ships: a licence register and an AI-aware SBOM per release; signed, safetensors-only bundled weights.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the CRA and PLD as deadlines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Vulnerability reporting since 11 September 2026; software a PLD product from 9 December 2026; CRA main obligations from 11 December 2027.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XIV of the master document · core candidates under this view: 48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Start-up: speed first, exits kept open cheaply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fortnight, not a quarter, on the control plane. What is built in the first two weeks decides how cheaply the company can change its mind later.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Build four things in the first fortnight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pinned gateway with a key and budget per customer; a tenant ID on every row, vector and trace; standard tracing; an evaluation set in Git with the prompts.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Let credits pick the first vendor, not the last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Credits mostly pay only for the credit-giver's models: qualify a second vendor on the same evaluation set, switchable by configuration.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Isolation before model risk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Keeping one customer's data out of another's answers is the first control problem; the users are customers' staff, so use customer identity, not a workforce directory.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Two things do not bend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Pin the gateway: a widely used open-source gateway shipped poisoned releases in March 2026. Keep evaluation sets and prompts as the company's own IP.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 of the master document · core candidates under this view: 57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AI-tools start-up: easy to adopt, easy to leave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buyer's architecture already assigns the product's place: a replaceable call-out inside the buyer's control plane, running where the data is and writing evidence into the buyer's stores.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Publish the integration contract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 hooks with a latency budget and typed outcomes; spans to the customer's OpenTelemetry collector; verdicts to its evidence store; usage in an open cost format.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where the buyer's data is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build as EU SaaS, private-endpoint SaaS and a container in the customer's account; no hidden model dependency; policy as code, not console settings.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Beat the free baseline on evidence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tools and incumbents' bundles already ship the feature: win on recall, operations or evidence, never on having the feature.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Pass diligence and plan for a change of owner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Many 'neutral' tools were acquired: subprocessor list, DORA addendum, exit plan and change-of-control notice; the start-up's own CRA duties apply too.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SDLC: trust is earned in the pull request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DV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crown jewels are source code and the credentials that change it. Two questions decide the deal: where does our code go, and can we see everything the agent did?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customer's model endpoint by default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call through the customer's gateway; two unrelated model vendors qualified per task; retention reported route by route, because it depends on the model.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pull request is the boundary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 branch, isolated sandbox with default-deny egress, short-lived repository-scoped tokens; the agent never merges, a named human does.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Fill the audit gap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 evidence record of every model call, tool call and command, written to the customer's store, with pinned OpenTelemetry spans.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Sell depth, neutrality and evidence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ship breadth and the enterprise baseline. Win on one task done well; cache stable prefixes, the main cost lever.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 of the master document · core candidates under this view: 63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start-up: an ungoverned agent is not bought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89888"/>
            <a:ext cx="822960" cy="69494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44168"/>
            <a:ext cx="9875520" cy="786384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buyer governs every agent through its own control and evidence plane. The start-up sells domain logic, a tested workflow and an evaluation suite, not a second identity plane, gateway or evidence store.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Run under the customer's identity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Registered in the customer's directory with a sponsor; on-behalf-of tokens per tool audience; no standing secrets; revocation within 15 minutes.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172200" y="2377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36792" y="248716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Ship the strict profile of incomplete standards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288036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Tool authorisation on, signed agent cards, short-lived audience-bound tokens, no sub-delegation; tools read-only by default, through the customer's gateway.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Keep nothing the customer must audit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calls only to a customer-supplied endpoint; one evidence record per output in the customer's store; workflow, prompts and autonomy budget as files.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36792" y="4178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Treat governance fit as the product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36792" y="4572000"/>
            <a:ext cx="5111496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Incumbents are building agent platforms. The test: an evidence pack for every output, revoke by one identity, switch model by one route.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88152"/>
            <a:ext cx="110642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Read more: Part XVIII of the master document · core candidates under this view: 56 of 138 (FS 45)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holds across all seven lenses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named person approves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Anything consequential: a support reply, a merged pull request, a payment run. The model drafts; a person decides.</a:t>
            </a:r>
            <a:endParaRPr lang="en-US" sz="1400" dirty="0"/>
          </a:p>
        </p:txBody>
      </p:sp>
      <p:sp>
        <p:nvSpPr>
          <p:cNvPr id="6" name="card"/>
          <p:cNvSpPr/>
          <p:nvPr/>
        </p:nvSpPr>
        <p:spPr>
          <a:xfrm>
            <a:off x="429768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6227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Memory comes last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46227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Long-term memory of customer or client content waits; when built, it is a governed record class with erasure by person.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8046720" y="12801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11312" y="13898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Configuration in source control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11312" y="17830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Prompts, model pins and policies released through review, in Git, as one manifest.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54864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 evidence record for every output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Keyed by a trace ID, in a store the firm or its customer owns, never only in a vendor's.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429768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6227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pinned, signed supply chain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46227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five-person team is as exposed to a poisoned package as a bank.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8046720" y="3108960"/>
            <a:ext cx="356616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11312" y="321868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model call through a gateway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3611880"/>
            <a:ext cx="3236976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firm's own or the customer's: one route to switch a model, enforce a budget and record the call.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102352"/>
            <a:ext cx="106070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What changes is who owns the control plane, who pays for inference and which rulebook applies: deployer, operator, manufacturer, provider or supplier. Every lens keeps a second, unrelated model vendor qualified on the same evaluation set; only the reason for it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leadership team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control plane. Rent the components.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Full evidence: master document (seven views, Parts I–XVIII), product technical appendix (138 scored products, fit by view), offline explorer with a view selector, dataset and source archive. Every claim is labelled and sourced. Researched and drafted with an Anthropic model; Anthropic items scored on the same rubric, with tiers set by the reader marked.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Veyan">
  <a:themeElements>
    <a:clrScheme name="Veyan">
      <a:dk1>
        <a:srgbClr val="0B1B33"/>
      </a:dk1>
      <a:lt1>
        <a:srgbClr val="FFFFFF"/>
      </a:lt1>
      <a:dk2>
        <a:srgbClr val="0B1B33"/>
      </a:dk2>
      <a:lt2>
        <a:srgbClr val="F5F1E8"/>
      </a:lt2>
      <a:accent1>
        <a:srgbClr val="2E6DA4"/>
      </a:accent1>
      <a:accent2>
        <a:srgbClr val="0B1B33"/>
      </a:accent2>
      <a:accent3>
        <a:srgbClr val="D4A13A"/>
      </a:accent3>
      <a:accent4>
        <a:srgbClr val="6B7A8F"/>
      </a:accent4>
      <a:accent5>
        <a:srgbClr val="9DBBDB"/>
      </a:accent5>
      <a:accent6>
        <a:srgbClr val="B3474B"/>
      </a:accent6>
      <a:hlink>
        <a:srgbClr val="2E6DA4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Veyan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Enterprise GenAI Stack: the view at end of Q3 2026</dc:title>
  <dc:subject>PptxGenJS Presentation</dc:subject>
  <dc:creator>Veyan</dc:creator>
  <cp:lastModifiedBy>Veyan</cp:lastModifiedBy>
  <cp:revision>1</cp:revision>
  <dcterms:created xsi:type="dcterms:W3CDTF">2026-10-10T20:38:00Z</dcterms:created>
  <dcterms:modified xsi:type="dcterms:W3CDTF">2026-10-10T20:38:00Z</dcterms:modified>
</cp:coreProperties>
</file>