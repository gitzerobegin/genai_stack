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ec1667c-26ab-57b7-489b-6451105a77ce}">
          <p14:sldIdLst>
            <p14:sldId id="256"/>
            <p14:sldId id="257"/>
            <p14:sldId id="258"/>
          </p14:sldIdLst>
        </p14:section>
        <p14:section name="What changed" id="{e1e0d4bd-ff75-578a-4863-9b9b51221afa}">
          <p14:sldIdLst>
            <p14:sldId id="259"/>
            <p14:sldId id="260"/>
            <p14:sldId id="261"/>
          </p14:sldIdLst>
        </p14:section>
        <p14:section name="The architecture" id="{6f21c441-5827-6a92-cfc2-7a3b50a6c1f9}">
          <p14:sldIdLst>
            <p14:sldId id="262"/>
            <p14:sldId id="263"/>
            <p14:sldId id="264"/>
            <p14:sldId id="265"/>
          </p14:sldIdLst>
        </p14:section>
        <p14:section name="What to select" id="{acd31ea1-4f02-9558-d562-32becccd78ce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Regulated view" id="{b9e0f522-6c3c-f176-ffd9-2593d240fadf}">
          <p14:sldIdLst>
            <p14:sldId id="272"/>
            <p14:sldId id="273"/>
            <p14:sldId id="274"/>
            <p14:sldId id="275"/>
          </p14:sldIdLst>
        </p14:section>
        <p14:section name="Delivery" id="{67d0383e-b003-3ac8-4c6e-58c411b624c6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ose" id="{8d69c8a6-c67b-08e5-089e-a4e43fdd03c7}">
          <p14:sldIdLst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A41"/>
                </a:solidFill>
                <a:latin typeface="+mn-lt"/>
              </a:rPr>
              <a:t>Products by tier, layer (L9→L1) and control (C1→C8)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Strategic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L9</c:v>
                  </c:pt>
                  <c:pt idx="1">
                    <c:v>L8</c:v>
                  </c:pt>
                  <c:pt idx="2">
                    <c:v>L7</c:v>
                  </c:pt>
                  <c:pt idx="3">
                    <c:v>L6</c:v>
                  </c:pt>
                  <c:pt idx="4">
                    <c:v>L5</c:v>
                  </c:pt>
                  <c:pt idx="5">
                    <c:v>L4</c:v>
                  </c:pt>
                  <c:pt idx="6">
                    <c:v>L3</c:v>
                  </c:pt>
                  <c:pt idx="7">
                    <c:v>L2</c:v>
                  </c:pt>
                  <c:pt idx="8">
                    <c:v>L1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  <c:pt idx="4">
                  <c:v>2</c:v>
                </c:pt>
                <c:pt idx="5">
                  <c:v>3</c:v>
                </c:pt>
                <c:pt idx="6">
                  <c:v>6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3</c:v>
                </c:pt>
                <c:pt idx="11">
                  <c:v>3</c:v>
                </c:pt>
                <c:pt idx="12">
                  <c:v>6</c:v>
                </c:pt>
                <c:pt idx="13">
                  <c:v>3</c:v>
                </c:pt>
                <c:pt idx="14">
                  <c:v>2</c:v>
                </c:pt>
                <c:pt idx="15">
                  <c:v>2</c:v>
                </c:pt>
                <c:pt idx="1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Tactical</c:v>
                </c:pt>
              </c:strCache>
            </c:strRef>
          </c:tx>
          <c:spPr>
            <a:solidFill>
              <a:srgbClr val="6B7A8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L9</c:v>
                  </c:pt>
                  <c:pt idx="1">
                    <c:v>L8</c:v>
                  </c:pt>
                  <c:pt idx="2">
                    <c:v>L7</c:v>
                  </c:pt>
                  <c:pt idx="3">
                    <c:v>L6</c:v>
                  </c:pt>
                  <c:pt idx="4">
                    <c:v>L5</c:v>
                  </c:pt>
                  <c:pt idx="5">
                    <c:v>L4</c:v>
                  </c:pt>
                  <c:pt idx="6">
                    <c:v>L3</c:v>
                  </c:pt>
                  <c:pt idx="7">
                    <c:v>L2</c:v>
                  </c:pt>
                  <c:pt idx="8">
                    <c:v>L1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8</c:v>
                </c:pt>
                <c:pt idx="1">
                  <c:v>5</c:v>
                </c:pt>
                <c:pt idx="2">
                  <c:v>6</c:v>
                </c:pt>
                <c:pt idx="3">
                  <c:v>5</c:v>
                </c:pt>
                <c:pt idx="4">
                  <c:v>3</c:v>
                </c:pt>
                <c:pt idx="5">
                  <c:v>5</c:v>
                </c:pt>
                <c:pt idx="6">
                  <c:v>4</c:v>
                </c:pt>
                <c:pt idx="7">
                  <c:v>5</c:v>
                </c:pt>
                <c:pt idx="8">
                  <c:v>5</c:v>
                </c:pt>
                <c:pt idx="9">
                  <c:v>4</c:v>
                </c:pt>
                <c:pt idx="10">
                  <c:v>2</c:v>
                </c:pt>
                <c:pt idx="11">
                  <c:v>2</c:v>
                </c:pt>
                <c:pt idx="12">
                  <c:v>0</c:v>
                </c:pt>
                <c:pt idx="13">
                  <c:v>2</c:v>
                </c:pt>
                <c:pt idx="14">
                  <c:v>2</c:v>
                </c:pt>
                <c:pt idx="15">
                  <c:v>4</c:v>
                </c:pt>
                <c:pt idx="16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Experimental</c:v>
                </c:pt>
              </c:strCache>
            </c:strRef>
          </c:tx>
          <c:spPr>
            <a:solidFill>
              <a:srgbClr val="C9822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L9</c:v>
                  </c:pt>
                  <c:pt idx="1">
                    <c:v>L8</c:v>
                  </c:pt>
                  <c:pt idx="2">
                    <c:v>L7</c:v>
                  </c:pt>
                  <c:pt idx="3">
                    <c:v>L6</c:v>
                  </c:pt>
                  <c:pt idx="4">
                    <c:v>L5</c:v>
                  </c:pt>
                  <c:pt idx="5">
                    <c:v>L4</c:v>
                  </c:pt>
                  <c:pt idx="6">
                    <c:v>L3</c:v>
                  </c:pt>
                  <c:pt idx="7">
                    <c:v>L2</c:v>
                  </c:pt>
                  <c:pt idx="8">
                    <c:v>L1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1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0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02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give the leadership team one decision-ready view of the 2026 GenAI stack. The full evidence (about 230,000 words, 1,255 sources) sits in the master document and appendix. Disclosure: researched and drafted with an Anthropic model; Anthropic items were scored on the same rubric, borderline calls resolved against them, and tiers set by the reader are marked.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synthesis Part I.2. Rationale for each point: Part I.1 findings 1, 2 and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from the dataset build (05_Data/products.json, bibliography.xlsx). Limitation: no vendor audit report was read; many facts come from dated search extracts because the research environment blocked direct fetching of most vendor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I.1, findings 1–10, each tagged to sources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2; filing figures only for deal values (press values are deliberately not used). Source IDs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9 and Part V; every date tagged to regulator sources (regulatory_facts.json R-US-MRM, R-EUAIA, R-EU-OMNIBUS-AI, R-PRA-SS221, R-FCA-SYSC8, R-DORA, R-UK-CTP).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IV.1 (revised layer model and diagram).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III, H1–H8, with evidence from the 17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I.2, 'Twelve decisions'. MCP originated at Anthropic; OpenAPI tools behind the same gateway are the independent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05_Data/products.json after CP4. Strategic counts by area from the scorecard; tiers are judgements under rules 9–13, not thresholds.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XI.7 and Part I.2. Anthropic's tier (Strategic, conditional) was set by the reader at Checkpoint 4 on neutral-rubric scores; an independent alternative is always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 (foundation models) and synthesis Part I.4. Disclosure: the drafting model is Anthropic's; Anthropic was scored on the same rubric and its tier was set by the reader.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XI.5 (evidence-based avoid list, CP4-7) and Stack A 'do not build yet'.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 and V.8 (consolidated evidence register).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VI.1–VI.4. Cloud-neutral; AWS, Azure and Google Cloud equivalents are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§11.3 boundaries; synthesis Part VI.3 and X.3 reason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VII. Every stack table shows AWS, Azure and Google Cloud equivalents side by side (cloud-neutral by the reader's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IX.4 (lock-in by layer and control).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X.1–X.2. Phase 2 exit criteria include the exit drill and provider assessments before 18 March 2027; the synthesis notes this timing may be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X.3 (seven reasons, condensed to four).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 Phase 0 scope and Part XI.7.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Enterprise GenAI stack review · October 2026 · Personal research, not a description of any firm's platform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enterprise GenAI stack, October 2026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What changed since the popular stack diagram, what a regulated asset manager should select, and what to deliberately not build yet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Reference architecture review · 9 layers · 8 enterprise controls · 140 products · Personal research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 in one sentence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173736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1042416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firm-owned control and evidence plane first. Run regulated work as deterministic workflows with one bounded model step and a human approval gate. Consume models as a two-vendor portfolio. Treat every product beneath the plane as replaceable.</a:t>
            </a:r>
            <a:endParaRPr lang="en-US" sz="2100" dirty="0"/>
          </a:p>
        </p:txBody>
      </p:sp>
      <p:sp>
        <p:nvSpPr>
          <p:cNvPr id="5" name="card"/>
          <p:cNvSpPr/>
          <p:nvPr/>
        </p:nvSpPr>
        <p:spPr>
          <a:xfrm>
            <a:off x="54864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Control first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identity, privacy, configuration, evaluation and one evidence store are the firm's own. They make exit a configuration change.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6227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Workflows, not free agents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6227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serious framework now separates deterministic workflows from agent loops. Regulated work defaults to the workflow.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1131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Products are components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1131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Ownership of 'neutral' tools changed hands repeatedly in 2025–26. Independence and exit must be designed in, not assumed.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reviewed, and how much had moved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tiles in the original graphic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 80 tiles out of date: acquired, renamed, mislabelled or unverifiable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products profiled (80 tiles, 48 controls, 12 additions)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1,255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sources logged with URL and access date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How the work was done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109728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Eight parallel research streams, primary sources first; two adversarial verifiers re-checked 192 high-risk claims (no fabrications found).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Seventeen chapters on a 13-part template, each product scored 1–5 on eight criteria with generic and regulated-FS weights.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Reader checkpoints decided the scoring rules and the contested tiers; every claim is labelled verified, reported, judgement or recommendation.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findings that change the picture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Catalogue → control system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None of the eight enterprise controls appears in the graphic.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Neutral tools were bought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Arize, Langfuse, Promptfoo, Portkey, Lakera, Voyage, Jina and others changed hands.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Models are tiered families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Gated top tiers and short lives: model choice is a lifecycle discipline.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 vs agents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serious framework now ships both; this is the key design choice.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Protocols under foundations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MCP and A2A now sit in a Linux Foundation project; agent identity is a product category.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Vector DB is a feature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Hybrid search ships in most stores; retrieval is a governed index.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Memory layer is thinning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editions narrowed; hyperscalers ship memory in their runtimes.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7220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Supply chain is attack surface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gateway package was compromised; a tool broker leaked tokens.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1324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Regulatory anchors moved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SR 26-2 excludes GenAI; EU high-risk duties now 2 Dec 2027.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172200" y="5413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7220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'Open source' often is not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Source-available, AGPL, non-commercial and threshold licences.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Independence can no longer be assumed from a product's origins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(layer)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owner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(as of 8 October 2026)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Arize Phoenix and AX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Dynatrace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1 October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ClickHouse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16 January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Promptfoo (red-teaming)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9 March 2026; closing not published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February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9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Tavily (search API)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Nebius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19 February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 (model router)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 19 August 2026; pending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Portkey (gateway), Protect AI (security)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Palo Alto Networks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2025–26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Lakera (guardrails)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22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 AI; Helicone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Harvey; Mintlify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Completed; Helicone in maintenance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7863840" y="1280160"/>
            <a:ext cx="3749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28432" y="138988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it means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028432" y="1783080"/>
            <a:ext cx="3419856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model vendor now owns a red-team tool; security vendors own gateways. Effective challenge and exit planning have to be designed, not inherited.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7863840" y="3657600"/>
            <a:ext cx="3749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28432" y="376732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we do about it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4160520"/>
            <a:ext cx="3419856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 evaluation datasets, routes and policies in Git; keep two red-team tools, one independent of the model vendor; re-run due diligence on every change of control.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regulatory anchors moved in 2026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67128"/>
            <a:ext cx="329184" cy="329184"/>
          </a:xfrm>
          <a:prstGeom prst="ellipse">
            <a:avLst/>
          </a:prstGeom>
          <a:solidFill>
            <a:schemeClr val="accent6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Apr 2026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SR 26-2 replaces SR 11-7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Generative and agentic AI are out of scope: firms must write their own GenAI standard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1188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Aug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GPAI enforcement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Commission powers over general-purpose model providers start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Mar 2027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PRA PS7/26 · FCA PS26/2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Material third-party notifications and registers begin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8972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0684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Dec 2027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Annex III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High-risk duties deferred by Regulation (EU) 2026/1744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81888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Concentration sits with the clouds, not the model vendors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212080"/>
            <a:ext cx="10735056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DORA's first critical-provider list and the UK CTP designations name hyperscalers and no model vendor. PRA SS1/23 and the EU AI Act are now the operative model-risk anchors.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architecture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Eight hypotheses tested; nine layers renamed, split or merged; one control plane added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planes under one firm-owned control plane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44168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CONTROL PLANE (firm-owned)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C1 AI traffic gateway · C2 guardrails · C3 privacy service · C4 identity · C5 configuration of record · C6 FinOps · C7 AI security · C8 governance and evidence store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67712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EVALUATION AND OBSERVABILITY PLANE (L9)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Firm OpenTelemetry collector · platform of record · CI and online evaluations · two red-team tools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55264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319272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AGENT PLANE (L3, L4)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39312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Workflows by default · bounded agent steps · durable execution · tools behind a governance sub-layer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42816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306824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KNOWLEDGE PLANE (L8, L7, L6 + L5)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626864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Ingestion envelope · retrieval optimisation (embed + rerank) · derived, entitlement-filtered stores · memory service last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230368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294376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 PLANE (L2, L1)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614416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In-region model access · vLLM exit route · two-vendor portfolio + small + open-weight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8503920" y="1280160"/>
            <a:ext cx="3108960" cy="480060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68512" y="1389888"/>
            <a:ext cx="27797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How to read it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68512" y="1783080"/>
            <a:ext cx="2779776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control plane governs every call and holds the evidence. Planes beneath it are built from replaceable products.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Layer numbers are kept for traceability; names changed where the evidence required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Hypothesis verdicts: what the evidence did to the nine layers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91840"/>
                <a:gridCol w="7132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inference; promote the gateway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L2 into access, serving, optimisation; gateway becomes C1 (model, tool and agent traffic)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 is not one layer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Split: deterministic workflows (default), bounded agent steps, durable execution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and tool governance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Keep: a tool-governance sub-layer in L4; C4 and C7 make the decisions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vs retrieval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into the stores layer as a governed memory service; build it last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Rename vector databases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Rename L6 'Retrieval, knowledge and memory stores'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Embeddings + reranking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into L7 'Retrieval optimisation'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needs lineage, DLP, ACLs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Keep, widened: a built ingestion envelope around replaceable parsers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is cross-cutting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Reposition L9 as an evidence plane; one evidence store with C8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decisions that define the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gateway of record for all model, MCP and agent traffic; two deployments, in region, failing closed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Evaluation and observability from day one; datasets in Git; two red-team tools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firm-owned, immutable evidence store keyed by trace 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two-vendor model portfolio in region, plus a small model and a self-hosted exit route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 workflows by default, with approval gates only a named human can resume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Read-only tools for authoritative data, behind a governed tool gateway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7220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agent a registered identity acting on behalf of a human, deny by default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privacy service at six enforcement points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7220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Retrieval inside platforms already run, as a rebuildable, entitlement-filtered index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7220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 as the configuration of record for prompts, pins and policies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Capability separation as the first security control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7220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76656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Memory last, as a governed record class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select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138 products scored on eight criteria · 58 Strategic · 67 Tactical · 13 Experimental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Strategic choices are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7498080" cy="4983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8321040" y="1234440"/>
            <a:ext cx="32918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85632" y="134416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Strategic tier carries a condition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485632" y="1737360"/>
            <a:ext cx="2962656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 of the 58 apply only where a given cloud is primary, or where a platform is already operated. The condition is the decision.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8321040" y="3703320"/>
            <a:ext cx="32918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85632" y="381304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drives the tiers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85632" y="4206240"/>
            <a:ext cx="2962656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Regulated-FS weights favour deployment flexibility and low lock-in, so open, self-hostable components take most Strategic slots. No commercial governance tool reached Strategic on public evidence.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cloud-neutral core we would select today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9377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 /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alternative or note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LiteLLM Enterprise (hardened, pinned) or Kong AI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gateway where that cloud is primary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L9 evaluation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or MLflow + firm OpenTelemetry collector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red-team tools, one vendor-independent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privacy / C4 identity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Presidio behind a privacy API · workforce IdP + OPA + SPIFFE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DLP / Entra Agent ID per cloud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 configuration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as configuration of record; prompts as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registries are caches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L8 ingestion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Docling + Unstructured inside a built envelope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Specialist parsers for hard documents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L7 / L6 retrieval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Sentence Transformers + pgvector (or Elasticsearch where run)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 or Milvus after a failed load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MCP tools behind a governed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OpenAPI tools (MCP originated at Anthropic)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orchestration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on Temporal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Framework, ADK, Pydantic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cloud's in-region model service + vLLM exit route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as backup engine once its CVE fix is confirmed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vendors from OpenAI, Anthropic, Mistral, Gemini; Gemma 4 or Mistral self-hosted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Claude: GPT-6.1 Sol, Gemini 3.8 Flash or Mistral Medium 3.5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 models as a portfolio, not a bet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Primary mid-tier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vendor through the primary cloud's in-region model service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Second mid-tier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An unrelated vendor qualified on the same evaluation suite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Small model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Classification, routing and judging at low cost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Open-weight exit route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Gemma 4 or Mistral on vLLM: the stressed-exit drill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10642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Top tiers are gated and lifetimes are short: one Gemini Flash version lives about five months. Re-qualification is routine work, not an event.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Chinese-origin families: decide the route, not the brand. Self-hosted weights by explicit policy or in-tenant hosting; never the vendor's own API for client data.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Numbers are never generated by the model; they come from the attribution engine through read-only tools.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Keep, remove, add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Keep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33832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nine-layer spine as a teaching device · vLLM · LangGraph · Docling · pgvector, Qdrant, Milvus, Elasticsearch · Langfuse, LangSmith · MCP and A2A behind a governed gateway · the portfolio model vendors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Remove or demote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965960"/>
            <a:ext cx="33832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Labels that do not exist (Gemma 2.9, QI4) · unverifiable tiles (EthicalAgents, Ragoos) · archived TGI · a router as 'the' access layer · memory as its own infrastructure layer · desktop runtimes in production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Add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1965960"/>
            <a:ext cx="33832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traffic gateway · guardrails as policy · privacy service · agent identity and tool governance · configuration of record · FinOps · AI security · governance and evidence store · durable execution · ingestion envelope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Deliberately not selected, on evidence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or deprecated: TGI, OpenAI Agent Builder, AutoGen for new code, Helicone, Zep Community Edition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Archived, shut down, superseded or in maintenance mode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EthicalAgents, Ragoos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Could not be verified as real products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third-party broker holding client tokens (Composio managed cloud)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Unresolved token-exposure incident, May 2026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Chinese-origin vendor's own API for client data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PRC storage and unremediated regulatory findings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weights, MinerU above thresholds, a modified AGPL Firecrawl server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blockers without a commercial licence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 Studio as a service; training-on-data model tiers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blockers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Billing intermediation through a gateway or router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Puts a vendor between the firm and its model contract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94960"/>
            <a:ext cx="110642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Not avoided but not yet: memory, autonomous agents with write tools, multi-agent delegation, fine-tuning, own-GPU fleets, dedicated vector databases without a failed load test.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regulated firm's view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What supervisors will ask for, and the worked example that makes it concrete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supervisor or validator will ask to see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risk (SS1/23)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GenAI model-risk standard, inventory entry, independent validation report, monitoring results, change records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EU AI Act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Use-case classification, AI literacy records, Article 26 logs (six months or more) and oversight assignments for any high-risk use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54864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Third parties (PS7/26, DORA)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Provider assessments, notifications from 18 March 2027, register entries, tested exit plans including a stressed exit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17220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Processing-region evidence per call, transfer risk assessments, erasure runbooks covering vectors, caches and backups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Per-output evidence pack: prompt and model versions, data snapshot, tool calls, evaluation results, approver identity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17220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3679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Security (OWASP 2026)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3679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Red-team results mapped to the LLM and Agentic Top 10 lists; supply-chain gate records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example: the attribution-commentary agent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Analyst request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Identity and policy check (C4)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Workflow graph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Deterministic; one drafting step (L3)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18504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Read-only data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18504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Attribution engine via governed tools (L4)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34856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House style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34856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Retrieval of prior commentary (L8–L6)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Draft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Model via the gateway, in region (C1, L2, L1)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64992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02152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Evaluate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502152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figure matches the engine (L9, C2)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18504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Approve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Named portfolio manager (C4)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97696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34856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8  Evidence pack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Stored, immutable, reproducible (C8)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A multi-asset fund, Brinson-style attribution (allocation, selection, currency). Generic and illustrative: not any firm's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agent must never do matters more than what it can 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463040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463040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Generate or alter a number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figure comes from the approved attribution output and is traceable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79392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79392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Present inference as data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Commentary distinguishes the engine's figures from the narrative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181344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Publish without approval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a named, entitled person can resume the approval gate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12096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12096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997696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Leave no record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089136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Outputs are reproducible; evaluation evidence is retained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500176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control that catches the one failure that matters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5394960"/>
            <a:ext cx="10735056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wrong number in a client commentary is caught by a deterministic numeric-faithfulness check: an evaluation scorer reused inline as a guardrail.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Four reference stacks · build vs buy · lock-in · an 18-month roadmap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reference stacks: Stack A leads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· Regulated enterprise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LEAD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Private deployment, governance and evidence before speed; tested exit for every material dependency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64992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· Cloud-native managed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primary cloud's lead service in each category; firm-owned evidence and configuration keep exit possible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1344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5936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· Open-source first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Open licence and self-hosted route for every component; the cloud as infrastructure, not platform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97696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62288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· Minimal start-small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162288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Stack A cut to one use case, with an explicit 'do not build yet' list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4617720"/>
            <a:ext cx="110642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72744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control-plane minimum in every stack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120640"/>
            <a:ext cx="1073505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evaluation harness, evidence store, privacy API, agent identity, Git configuration, budgets that fail closed. Stacks differ in who runs the components, not in whether they exist.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control statement; buy the commodity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74320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firm owns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(C1), guardrails (C2), privacy (C3)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Routes, policies, test sets, keys; the product is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(C4)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 the IdP, build the policy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registration, policies in Git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(C5), FinOps (C6)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(thin)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manifest, evaluation gate, allocation rules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store, buy the workflow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store and inventory outlive any tool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and scorers in Git; platform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(L8)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envelope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emits lineage; parsers adopted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what is run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interface and rebuild pipeline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Buy; adopt open weights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policy, qualification suite, retirement calendar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build yet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turn a deployer into a provider under the AI 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lock-in is acceptable, and which is not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Unacceptable without an exit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weights the firm holds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proprietary vendor for an important service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(L3)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frameworks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Vendor-hosted agent state for regulated workflows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(L4)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and A2A as open specifications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 custody in a third party's multi-tenant cloud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vector index rebuildable from source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Entitlement logic only in proprietary syntax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APM module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only in a vendor UI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Pins in a manifest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text or change history only in a vendor registry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packs, OpenLineage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evidence store held only by a vendor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pattern: own the data, the policy and the evidence; let the engines be bought and replaced.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18-month roadmap, governance first and memory last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9319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2062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9496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M9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3232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840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2471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5214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160020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 Governance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0" y="1664208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07568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 Evaluation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30880" y="2139696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5117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 Gateway and models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18560" y="261518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026664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 Retrieval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93920" y="3090672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502152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 Workflows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0" y="3566160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97764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5 Tools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132320" y="4041648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45312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6 Memory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595360" y="4517136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92861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7 Optimisation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058400" y="499262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2544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414528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18 Mar 2027 · PS7/26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57072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82905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2 Dec 2027 · AI Act Annex III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October 2026 to March 2028. Phases overlap; each starts when its predecessor's exit criteria are in sight. The exit drill (model switched by configuration only) must pass before March 2027.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evaluation comes before the first model call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the validation evidence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Without a suite there is nothing for a validator to re-perform and nothing to approve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8076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what makes exit possible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replacement model is qualified only by running the same suite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Every later change is a model change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Model, prompt, embedding and tool changes all need a regression baseline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076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Evidence cannot be recreated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Free tiers keep traces for weeks; an unrecorded output has no reproducible record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the leadership team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Adopt the reference architecture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 plane first; Stack A as the target; the lock-in rules as design policy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Name the accountable owner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SMF for GenAI model risk and a GenAI standard to SS1/23 quality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Fund Phases 0–2 now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Governance, evaluation harness, gateway and two-vendor model access, with the exit drill before 18 March 2027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7220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Choose the first use case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attribution commentary: clear boundaries, checkable numbers, a named approver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the control plane. Rent the components.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Full evidence: master document (Word/PDF), product technical appendix (138 scored products), offline explorer, dataset and source archive. Every claim is labelled and sourced. Researched and drafted with an Anthropic model; Anthropic items scored on the same rubric, with tiers set by the reader marked.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gulated GenAI">
  <a:themeElements>
    <a:clrScheme name="Regulated GenAI">
      <a:dk1>
        <a:srgbClr val="16202E"/>
      </a:dk1>
      <a:lt1>
        <a:srgbClr val="FFFFFF"/>
      </a:lt1>
      <a:dk2>
        <a:srgbClr val="1B2A41"/>
      </a:dk2>
      <a:lt2>
        <a:srgbClr val="EEF2F5"/>
      </a:lt2>
      <a:accent1>
        <a:srgbClr val="0E7C7B"/>
      </a:accent1>
      <a:accent2>
        <a:srgbClr val="1B2A41"/>
      </a:accent2>
      <a:accent3>
        <a:srgbClr val="C9822B"/>
      </a:accent3>
      <a:accent4>
        <a:srgbClr val="6B7A8F"/>
      </a:accent4>
      <a:accent5>
        <a:srgbClr val="8FB9B8"/>
      </a:accent5>
      <a:accent6>
        <a:srgbClr val="B3474B"/>
      </a:accent6>
      <a:hlink>
        <a:srgbClr val="0E7C7B"/>
      </a:hlink>
      <a:folHlink>
        <a:srgbClr val="6B7A8F"/>
      </a:folHlink>
    </a:clrScheme>
    <a:fontScheme name="Regulated GenA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Personal 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Enterprise GenAI Stack, October 2026</dc:title>
  <dc:subject>PptxGenJS Presentation</dc:subject>
  <dc:creator>Prepared for Bing Zhang (personal research)</dc:creator>
  <cp:lastModifiedBy>Prepared for Bing Zhang (personal research)</cp:lastModifiedBy>
  <cp:revision>1</cp:revision>
  <dcterms:created xsi:type="dcterms:W3CDTF">2026-10-09T05:59:19Z</dcterms:created>
  <dcterms:modified xsi:type="dcterms:W3CDTF">2026-10-09T05:59:19Z</dcterms:modified>
</cp:coreProperties>
</file>